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Shuvransu Sekhar Sahoo (Captain) — Time: 0:00 to 0:30</a:t>
            </a:r>
          </a:p>
          <a:p/>
          <a:p>
            <a:r>
              <a:t>SPOKEN SCRIPT (Keep it simple and confident):</a:t>
            </a:r>
          </a:p>
          <a:p>
            <a:r>
              <a:t>"Respected judges, faculty members, and fellow builders, good morning!</a:t>
            </a:r>
          </a:p>
          <a:p>
            <a:r>
              <a:t>We are Crystal Studio Labs, team ID BH26PS07T065, presenting Campus Relay for Problem Statement 07.</a:t>
            </a:r>
          </a:p>
          <a:p/>
          <a:p>
            <a:r>
              <a:t>Campus Relay is a resilient operating layer for everyday college operations.</a:t>
            </a:r>
          </a:p>
          <a:p>
            <a:r>
              <a:t>Instead of 10 different apps, registers, and WhatsApp groups, we unite hostel maintenance, leave approvals, gate security, certificates, and official circulars into a single, reliable engine.</a:t>
            </a:r>
          </a:p>
          <a:p/>
          <a:p>
            <a:r>
              <a:t>Our team is structured for strict 10-minute delivery: myself, Snehal, Manas, and Nandita will present our core workflows, while our technical leads Pruthiraj and Bibhu are ready for deep-dive architectural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Shuvransu Sekhar Sahoo (Captain) — Time: 0:30 to 2:00</a:t>
            </a:r>
          </a:p>
          <a:p/>
          <a:p>
            <a:r>
              <a:t>SPOKEN SCRIPT:</a:t>
            </a:r>
          </a:p>
          <a:p>
            <a:r>
              <a:t>"Let’s look at what actually happens on campus today.</a:t>
            </a:r>
          </a:p>
          <a:p>
            <a:r>
              <a:t>Colleges face three deep operational failures:</a:t>
            </a:r>
          </a:p>
          <a:p/>
          <a:p>
            <a:r>
              <a:t>First, Ghost Resolutions: A student reports a broken water tap. The technician writes 'Closed' on a paper sheet just to clear their name, but the tap is still broken. There is zero proof.</a:t>
            </a:r>
          </a:p>
          <a:p>
            <a:r>
              <a:t>Second, Porous Perimeter Security: Gate passes are physical paper slips. Students borrow a friend's slip, sneak out twice, or leave campus without the warden knowing. Security guards have no live count of who is outside.</a:t>
            </a:r>
          </a:p>
          <a:p>
            <a:r>
              <a:t>Third, Network Dead Zones: In hostel rooms or basements, Wi-Fi drops to zero. Traditional websites crash completely. And students without smartphones are left behind.</a:t>
            </a:r>
          </a:p>
          <a:p/>
          <a:p>
            <a:r>
              <a:t>Campus Relay fixes all three:</a:t>
            </a:r>
          </a:p>
          <a:p>
            <a:r>
              <a:t>• We created the Requester Verification Guard: Staff can only mark tickets as 'Resolved'. Only the student can confirm 'Closed'.</a:t>
            </a:r>
          </a:p>
          <a:p>
            <a:r>
              <a:t>• We created Anti-Passback Gate Passes: Scanned in under 150 milliseconds. Once scanned out, the pass locks so nobody can reuse it.</a:t>
            </a:r>
          </a:p>
          <a:p>
            <a:r>
              <a:t>• We built a Local-First PWA that works offline, plus Touch Kiosks for students without phones.</a:t>
            </a:r>
          </a:p>
          <a:p/>
          <a:p>
            <a:r>
              <a:t>To explain our technical architecture, here is Snehal."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Snehal Kumar Moharana (Systems &amp; Backend Architecture) — Time: 2:00 to 3:00</a:t>
            </a:r>
          </a:p>
          <a:p/>
          <a:p>
            <a:r>
              <a:t>SPOKEN SCRIPT:</a:t>
            </a:r>
          </a:p>
          <a:p>
            <a:r>
              <a:t>"Thank you, Shuvransu.</a:t>
            </a:r>
          </a:p>
          <a:p>
            <a:r>
              <a:t>Judges, most software teams try to build separate apps: one for complaints, one for gate passes, one for certificates. This creates fragmented data and broken workflows.</a:t>
            </a:r>
          </a:p>
          <a:p/>
          <a:p>
            <a:r>
              <a:t>In Campus Relay, we engineered a single, Universal Case Engine.</a:t>
            </a:r>
          </a:p>
          <a:p>
            <a:r>
              <a:t>Every campus interaction—whether a broken ceiling fan, a 3-day leave request, or a bonafide certificate—runs through the exact same deterministic engine:</a:t>
            </a:r>
          </a:p>
          <a:p>
            <a:r>
              <a:t>Input Channels ➔ Core Operating Engine ➔ Data &amp; Trust Verification.</a:t>
            </a:r>
          </a:p>
          <a:p/>
          <a:p>
            <a:r>
              <a:t>Our technology stack guarantees sub-second response times:</a:t>
            </a:r>
          </a:p>
          <a:p>
            <a:r>
              <a:t>• Modern React 18 &amp; TypeScript PWA on the frontend with local IndexedDB storage.</a:t>
            </a:r>
          </a:p>
          <a:p>
            <a:r>
              <a:t>• Async Python 3.12 and FastAPI on the backend with strict Pydantic validation.</a:t>
            </a:r>
          </a:p>
          <a:p>
            <a:r>
              <a:t>• PostgreSQL 16 with Append-Only Audit Ledgers: database triggers physically block anyone, even administrators, from editing or deleting historical logs.</a:t>
            </a:r>
          </a:p>
          <a:p>
            <a:r>
              <a:t>• We also simplified security into three clear system roles: Student, Teacher, and Management."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Snehal Kumar Moharana (0:45) -&gt; Handover to SPEAKER 3: Manas Kumar Mallick — Time: 3:00 to 4:15</a:t>
            </a:r>
          </a:p>
          <a:p/>
          <a:p>
            <a:r>
              <a:t>SPOKEN SCRIPT:</a:t>
            </a:r>
          </a:p>
          <a:p>
            <a:r>
              <a:t>"Look at how one request travels through Campus Relay.</a:t>
            </a:r>
          </a:p>
          <a:p>
            <a:r>
              <a:t>A student scans a QR code on their hostel wall. Our system auto-binds their room number and hostel block without any manual typing.</a:t>
            </a:r>
          </a:p>
          <a:p>
            <a:r>
              <a:t>Our intelligent routing assigns the ticket to the electrical technician and starts a live SLA countdown—for example, a 4-hour target.</a:t>
            </a:r>
          </a:p>
          <a:p/>
          <a:p>
            <a:r>
              <a:t>When the technician finishes, they upload a photo and mark it RESOLVED.</a:t>
            </a:r>
          </a:p>
          <a:p>
            <a:r>
              <a:t>But notice: THE TICKET DOES NOT CLOSE.</a:t>
            </a:r>
          </a:p>
          <a:p>
            <a:r>
              <a:t>Staff cannot close tickets on their own. The ticket stays open until the student opens their app and clicks 'Confirm'. If the tap is still leaking, the student clicks 'Reopen', and the ticket immediately escalates to the Warden's dashboard.</a:t>
            </a:r>
          </a:p>
          <a:p/>
          <a:p>
            <a:r>
              <a:t>Now, Manas will show our field workflows and gate security."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Manas Kumar Mallick (Case Lifecycle &amp; Field Workflows) — Time: 4:15 to 6:30</a:t>
            </a:r>
          </a:p>
          <a:p/>
          <a:p>
            <a:r>
              <a:t>SPOKEN SCRIPT:</a:t>
            </a:r>
          </a:p>
          <a:p>
            <a:r>
              <a:t>"Thank you, Snehal!</a:t>
            </a:r>
          </a:p>
          <a:p>
            <a:r>
              <a:t>Let’s see what happens when a student finds a broken ceiling fan in their hostel room.</a:t>
            </a:r>
          </a:p>
          <a:p>
            <a:r>
              <a:t>They don't write in a register or search for a warden. They point their phone camera at the QR code on their room wall.</a:t>
            </a:r>
          </a:p>
          <a:p>
            <a:r>
              <a:t>In two taps, the complaint is submitted. The technician receives the work order, an active countdown timer starts, and when finished, the technician uploads photo proof.</a:t>
            </a:r>
          </a:p>
          <a:p/>
          <a:p>
            <a:r>
              <a:t>Now look at campus perimeter safety:</a:t>
            </a:r>
          </a:p>
          <a:p>
            <a:r>
              <a:t>When a student gets approved for weekend leave, they receive a digital gate pass with a secure QR code.</a:t>
            </a:r>
          </a:p>
          <a:p>
            <a:r>
              <a:t>At the gate, the security guard scans it in under 150 milliseconds.</a:t>
            </a:r>
          </a:p>
          <a:p>
            <a:r>
              <a:t>Here is our biggest safety feature: Anti-Passback.</a:t>
            </a:r>
          </a:p>
          <a:p>
            <a:r>
              <a:t>Once a student exits, the pass is marked 'Outside Campus'. A student cannot screenshot the pass and send it to a friend to sneak out. Duplicate exits are blocked.</a:t>
            </a:r>
          </a:p>
          <a:p>
            <a:r>
              <a:t>And the Principal’s screen shows a live headcount of exactly how many students are outside right now.</a:t>
            </a:r>
          </a:p>
          <a:p/>
          <a:p>
            <a:r>
              <a:t>To show how we support students who don't have smartphones, here is Nandita."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Manas (0:30) -&gt; Handover to SPEAKER 4: Nandita Das — Time: 6:30 to 7:15</a:t>
            </a:r>
          </a:p>
          <a:p/>
          <a:p>
            <a:r>
              <a:t>SPOKEN SCRIPT:</a:t>
            </a:r>
          </a:p>
          <a:p>
            <a:r>
              <a:t>"Here is our production interface in action across three devices:</a:t>
            </a:r>
          </a:p>
          <a:p>
            <a:r>
              <a:t>On the left, the Student PWA: Clean, clear, with the active SLA timer and 1-tap verification.</a:t>
            </a:r>
          </a:p>
          <a:p>
            <a:r>
              <a:t>In the middle, the Gate Security Tablet: High-contrast green banner showing 'PASS VALID — ALLOW MOVEMENT' with instant Anti-Passback confirmation.</a:t>
            </a:r>
          </a:p>
          <a:p>
            <a:r>
              <a:t>On the right, the Admin Command Centre: Real-time department resolution graphs, overdue ageing buckets, and live approval queues.</a:t>
            </a:r>
          </a:p>
          <a:p/>
          <a:p>
            <a:r>
              <a:t>Now Nandita will explain our digital equity kiosks, notice broadcasting, and institutional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Nandita Das (Digital Equity, Comms &amp; Institutional Value) — Time: 7:15 to 8:45</a:t>
            </a:r>
          </a:p>
          <a:p/>
          <a:p>
            <a:r>
              <a:t>SPOKEN SCRIPT:</a:t>
            </a:r>
          </a:p>
          <a:p>
            <a:r>
              <a:t>"Thank you, Manas!</a:t>
            </a:r>
          </a:p>
          <a:p>
            <a:r>
              <a:t>A common mistake in campus technology is assuming every student owns an expensive smartphone and high-speed data. What about students with broken phones or from underprivileged backgrounds?</a:t>
            </a:r>
          </a:p>
          <a:p/>
          <a:p>
            <a:r>
              <a:t>Campus Relay solves this with Touch-First Lobby Kiosks:</a:t>
            </a:r>
          </a:p>
          <a:p>
            <a:r>
              <a:t>A student walks up to a lobby kiosk, enters their university roll number, and can raise a complaint, check leave status, or view circulars without needing any smartphone.</a:t>
            </a:r>
          </a:p>
          <a:p>
            <a:r>
              <a:t>And our interface is completely trilingual: English, Odia, and Hindi from day one.</a:t>
            </a:r>
          </a:p>
          <a:p/>
          <a:p>
            <a:r>
              <a:t>Next, we eliminated noisy WhatsApp groups with our Targeted Notice Studio.</a:t>
            </a:r>
          </a:p>
          <a:p>
            <a:r>
              <a:t>The Dean can send a notice only to 'Hostel Block B' or '3rd Year Mechanical'. The system tracks who received it, who read it, and who digitally acknowledged it.</a:t>
            </a:r>
          </a:p>
          <a:p/>
          <a:p>
            <a:r>
              <a:t>Finally, for college leadership: during NAAC or NBA accreditation, colleges struggle to prove grievance handling.</a:t>
            </a:r>
          </a:p>
          <a:p>
            <a:r>
              <a:t>Campus Relay generates 1-click NAAC Criteria 4 and 5 audit reports, backed by tamper-proof database logs.</a:t>
            </a:r>
          </a:p>
          <a:p/>
          <a:p>
            <a:r>
              <a:t>Now, our team captain Shuvransu will conclude our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Shuvransu Sekhar Sahoo (Captain) — Time: 8:45 to 10:00</a:t>
            </a:r>
          </a:p>
          <a:p/>
          <a:p>
            <a:r>
              <a:t>SPOKEN SCRIPT:</a:t>
            </a:r>
          </a:p>
          <a:p>
            <a:r>
              <a:t>"Thank you, Nandita!</a:t>
            </a:r>
          </a:p>
          <a:p>
            <a:r>
              <a:t>Judges, when college administrators see our system, their first question is:</a:t>
            </a:r>
          </a:p>
          <a:p>
            <a:r>
              <a:t>'Will this take months of painful setup?'</a:t>
            </a:r>
          </a:p>
          <a:p>
            <a:r>
              <a:t>Our answer is NO. We offer a 60-Minute Adoption Guarantee.</a:t>
            </a:r>
          </a:p>
          <a:p>
            <a:r>
              <a:t>Provide your college's basic CSV lists—students, faculty, and hostel rooms—and Campus Relay is live in under one hour.</a:t>
            </a:r>
          </a:p>
          <a:p/>
          <a:p>
            <a:r>
              <a:t>We also believe in radical transparency:</a:t>
            </a:r>
          </a:p>
          <a:p>
            <a:r>
              <a:t>Everything we showed today is built and verified in our repository:</a:t>
            </a:r>
          </a:p>
          <a:p>
            <a:r>
              <a:t>• 145 automated tests passing</a:t>
            </a:r>
          </a:p>
          <a:p>
            <a:r>
              <a:t>• Zero TypeScript compilation errors</a:t>
            </a:r>
          </a:p>
          <a:p>
            <a:r>
              <a:t>• 62 security permissions enforced</a:t>
            </a:r>
          </a:p>
          <a:p>
            <a:r>
              <a:t>• Offline PWA and lobby kiosks working.</a:t>
            </a:r>
          </a:p>
          <a:p/>
          <a:p>
            <a:r>
              <a:t>Campus Relay is not an idea on paper. It is a tested, resilient operating system ready to transform Indian colleges today.</a:t>
            </a:r>
          </a:p>
          <a:p/>
          <a:p>
            <a:r>
              <a:t>Thank you! Our technical leads, Pruthiraj Lenka and Bibhu Bhusan Giri, are here with us,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5943600" cy="36576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F46E5"/>
                </a:solidFill>
                <a:latin typeface="Segoe UI"/>
              </a:defRPr>
            </a:pPr>
            <a:r>
              <a:t>BPUT HACKATHON 2026 · PROBLEM STATEMENT 07 (FRETBOX) · SOFTWARE</a:t>
            </a:r>
          </a:p>
        </p:txBody>
      </p:sp>
      <p:sp>
        <p:nvSpPr>
          <p:cNvPr id="4" name="TextBox 3"/>
          <p:cNvSpPr txBox="1"/>
          <p:nvPr/>
        </p:nvSpPr>
        <p:spPr>
          <a:xfrm>
            <a:off x="731520" y="1005840"/>
            <a:ext cx="9144000" cy="914400"/>
          </a:xfrm>
          <a:prstGeom prst="rect">
            <a:avLst/>
          </a:prstGeom>
          <a:noFill/>
        </p:spPr>
        <p:txBody>
          <a:bodyPr wrap="none">
            <a:spAutoFit/>
          </a:bodyPr>
          <a:lstStyle/>
          <a:p>
            <a:pPr>
              <a:defRPr sz="4400" b="1">
                <a:solidFill>
                  <a:srgbClr val="4F46E5"/>
                </a:solidFill>
                <a:latin typeface="Segoe UI"/>
              </a:defRPr>
            </a:pPr>
            <a:r>
              <a:t>CAMPUS RELAY</a:t>
            </a:r>
          </a:p>
        </p:txBody>
      </p:sp>
      <p:sp>
        <p:nvSpPr>
          <p:cNvPr id="5" name="TextBox 4"/>
          <p:cNvSpPr txBox="1"/>
          <p:nvPr/>
        </p:nvSpPr>
        <p:spPr>
          <a:xfrm>
            <a:off x="731520" y="1920240"/>
            <a:ext cx="9601200" cy="457200"/>
          </a:xfrm>
          <a:prstGeom prst="rect">
            <a:avLst/>
          </a:prstGeom>
          <a:noFill/>
        </p:spPr>
        <p:txBody>
          <a:bodyPr wrap="none">
            <a:spAutoFit/>
          </a:bodyPr>
          <a:lstStyle/>
          <a:p>
            <a:pPr>
              <a:defRPr sz="1800" b="1">
                <a:solidFill>
                  <a:srgbClr val="0F172A"/>
                </a:solidFill>
                <a:latin typeface="Segoe UI"/>
              </a:defRPr>
            </a:pPr>
            <a:r>
              <a:t>A Resilient Operating Layer for Everyday Campus Operations</a:t>
            </a:r>
          </a:p>
        </p:txBody>
      </p:sp>
      <p:sp>
        <p:nvSpPr>
          <p:cNvPr id="6" name="Rounded Rectangle 5"/>
          <p:cNvSpPr/>
          <p:nvPr/>
        </p:nvSpPr>
        <p:spPr>
          <a:xfrm>
            <a:off x="731520" y="2560320"/>
            <a:ext cx="8229600" cy="6766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200" b="1">
                <a:solidFill>
                  <a:srgbClr val="4F46E5"/>
                </a:solidFill>
                <a:latin typeface="Segoe UI"/>
              </a:defRPr>
            </a:pPr>
            <a:r>
              <a:t>THE PROBLEM WE SOLVE</a:t>
            </a:r>
          </a:p>
          <a:p>
            <a:pPr>
              <a:spcBef>
                <a:spcPts val="800"/>
              </a:spcBef>
              <a:defRPr sz="1400">
                <a:solidFill>
                  <a:srgbClr val="475569"/>
                </a:solidFill>
                <a:latin typeface="Segoe UI"/>
              </a:defRPr>
            </a:pPr>
            <a:r>
              <a:t>Colleges depend on paper registers, noisy WhatsApp groups, printed forms, and disconnected apps. Routine operations become slow, untracked, and unaccountable.</a:t>
            </a:r>
          </a:p>
          <a:p>
            <a:pPr>
              <a:spcBef>
                <a:spcPts val="1600"/>
              </a:spcBef>
              <a:defRPr sz="1200" b="1">
                <a:solidFill>
                  <a:srgbClr val="059669"/>
                </a:solidFill>
                <a:latin typeface="Segoe UI"/>
              </a:defRPr>
            </a:pPr>
            <a:r>
              <a:t>OUR SOLUTION IN ONE LINE</a:t>
            </a:r>
          </a:p>
          <a:p>
            <a:pPr>
              <a:spcBef>
                <a:spcPts val="800"/>
              </a:spcBef>
              <a:defRPr sz="1400">
                <a:solidFill>
                  <a:srgbClr val="475569"/>
                </a:solidFill>
                <a:latin typeface="Segoe UI"/>
              </a:defRPr>
            </a:pPr>
            <a:r>
              <a:t>Campus Relay consolidates every campus request into ONE deterministic Case Engine—with active SLAs, anti-passback gate security, local-first offline PWA, and lobby kiosks for digital equity.</a:t>
            </a:r>
          </a:p>
          <a:p>
            <a:pPr>
              <a:spcBef>
                <a:spcPts val="2000"/>
              </a:spcBef>
              <a:defRPr sz="1200" b="1">
                <a:solidFill>
                  <a:srgbClr val="0F172A"/>
                </a:solidFill>
                <a:latin typeface="Segoe UI"/>
              </a:defRPr>
            </a:pPr>
            <a:r>
              <a:t>TEAM DETAILS &amp; IDENTIFIERS</a:t>
            </a:r>
          </a:p>
          <a:p>
            <a:pPr>
              <a:spcBef>
                <a:spcPts val="800"/>
              </a:spcBef>
              <a:defRPr sz="1300">
                <a:solidFill>
                  <a:srgbClr val="475569"/>
                </a:solidFill>
                <a:latin typeface="Segoe UI"/>
              </a:defRPr>
            </a:pPr>
            <a:r>
              <a:t>• Team Name: Crystal Studio Labs</a:t>
            </a:r>
            <a:br/>
            <a:r>
              <a:t>• Team ID: BH26PS07T065</a:t>
            </a:r>
            <a:br/>
            <a:r>
              <a:t>• Team Captain: Shuvranshu Sekhar Sahoo</a:t>
            </a:r>
            <a:br/>
            <a:r>
              <a:t>• Repository: github.com/Crystal-Studio-Labs/Campus-Relay</a:t>
            </a:r>
            <a:br/>
            <a:r>
              <a:t>• License: Open Source (MIT License)</a:t>
            </a:r>
          </a:p>
        </p:txBody>
      </p:sp>
      <p:sp>
        <p:nvSpPr>
          <p:cNvPr id="7" name="Rounded Rectangle 6"/>
          <p:cNvSpPr/>
          <p:nvPr/>
        </p:nvSpPr>
        <p:spPr>
          <a:xfrm>
            <a:off x="9326880" y="548640"/>
            <a:ext cx="8229600" cy="8778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300" b="1">
                <a:solidFill>
                  <a:srgbClr val="4F46E5"/>
                </a:solidFill>
                <a:latin typeface="Segoe UI"/>
              </a:defRPr>
            </a:pPr>
            <a:r>
              <a:t>TEAM ROSTER (10-MIN PITCH STRUCTURE)</a:t>
            </a:r>
          </a:p>
          <a:p>
            <a:pPr>
              <a:spcBef>
                <a:spcPts val="200"/>
              </a:spcBef>
              <a:defRPr sz="1100">
                <a:solidFill>
                  <a:srgbClr val="475569"/>
                </a:solidFill>
                <a:latin typeface="Segoe UI"/>
              </a:defRPr>
            </a:pPr>
            <a:r>
              <a:t>4 Stage Presenters · 2 Technical Q&amp;A Defense Leads</a:t>
            </a:r>
          </a:p>
          <a:p>
            <a:pPr>
              <a:spcBef>
                <a:spcPts val="1200"/>
              </a:spcBef>
              <a:defRPr sz="1300" b="1">
                <a:solidFill>
                  <a:srgbClr val="4F46E5"/>
                </a:solidFill>
                <a:latin typeface="Segoe UI"/>
              </a:defRPr>
            </a:pPr>
            <a:r>
              <a:t>🎤 1. Shuvransu Sekhar Sahoo (Captain)</a:t>
            </a:r>
          </a:p>
          <a:p>
            <a:pPr>
              <a:spcBef>
                <a:spcPts val="100"/>
              </a:spcBef>
              <a:defRPr sz="1100">
                <a:solidFill>
                  <a:srgbClr val="475569"/>
                </a:solidFill>
                <a:latin typeface="Segoe UI"/>
              </a:defRPr>
            </a:pPr>
            <a:r>
              <a:t>Intro, Core Crisis &amp; Final Closing (Slides 1, 2 &amp; 8)</a:t>
            </a:r>
          </a:p>
          <a:p>
            <a:pPr>
              <a:spcBef>
                <a:spcPts val="1200"/>
              </a:spcBef>
              <a:defRPr sz="1300" b="1">
                <a:solidFill>
                  <a:srgbClr val="2563EB"/>
                </a:solidFill>
                <a:latin typeface="Segoe UI"/>
              </a:defRPr>
            </a:pPr>
            <a:r>
              <a:t>🎤 2. Snehal Kumar Moharana</a:t>
            </a:r>
          </a:p>
          <a:p>
            <a:pPr>
              <a:spcBef>
                <a:spcPts val="100"/>
              </a:spcBef>
              <a:defRPr sz="1100">
                <a:solidFill>
                  <a:srgbClr val="475569"/>
                </a:solidFill>
                <a:latin typeface="Segoe UI"/>
              </a:defRPr>
            </a:pPr>
            <a:r>
              <a:t>Systems &amp; Backend Architecture (Slides 3 &amp; 4)</a:t>
            </a:r>
          </a:p>
          <a:p>
            <a:pPr>
              <a:spcBef>
                <a:spcPts val="1200"/>
              </a:spcBef>
              <a:defRPr sz="1300" b="1">
                <a:solidFill>
                  <a:srgbClr val="059669"/>
                </a:solidFill>
                <a:latin typeface="Segoe UI"/>
              </a:defRPr>
            </a:pPr>
            <a:r>
              <a:t>🎤 3. Manas Kumar Mallick</a:t>
            </a:r>
          </a:p>
          <a:p>
            <a:pPr>
              <a:spcBef>
                <a:spcPts val="100"/>
              </a:spcBef>
              <a:defRPr sz="1100">
                <a:solidFill>
                  <a:srgbClr val="475569"/>
                </a:solidFill>
                <a:latin typeface="Segoe UI"/>
              </a:defRPr>
            </a:pPr>
            <a:r>
              <a:t>Case Lifecycle &amp; Gate Security Workflows (Slides 5 &amp; 6)</a:t>
            </a:r>
          </a:p>
          <a:p>
            <a:pPr>
              <a:spcBef>
                <a:spcPts val="1200"/>
              </a:spcBef>
              <a:defRPr sz="1300" b="1">
                <a:solidFill>
                  <a:srgbClr val="D97706"/>
                </a:solidFill>
                <a:latin typeface="Segoe UI"/>
              </a:defRPr>
            </a:pPr>
            <a:r>
              <a:t>🎤 4. Nandita Das</a:t>
            </a:r>
          </a:p>
          <a:p>
            <a:pPr>
              <a:spcBef>
                <a:spcPts val="100"/>
              </a:spcBef>
              <a:defRPr sz="1100">
                <a:solidFill>
                  <a:srgbClr val="475569"/>
                </a:solidFill>
                <a:latin typeface="Segoe UI"/>
              </a:defRPr>
            </a:pPr>
            <a:r>
              <a:t>Digital Equity, Notices &amp; Management ROI (Slides 6 &amp; 7)</a:t>
            </a:r>
          </a:p>
          <a:p>
            <a:pPr>
              <a:spcBef>
                <a:spcPts val="1200"/>
              </a:spcBef>
              <a:defRPr sz="1300" b="1">
                <a:solidFill>
                  <a:srgbClr val="0F172A"/>
                </a:solidFill>
                <a:latin typeface="Segoe UI"/>
              </a:defRPr>
            </a:pPr>
            <a:r>
              <a:t>🛡️ 5. Pruthiraj Lenka (Tech Lead)</a:t>
            </a:r>
          </a:p>
          <a:p>
            <a:pPr>
              <a:spcBef>
                <a:spcPts val="100"/>
              </a:spcBef>
              <a:defRPr sz="1100">
                <a:solidFill>
                  <a:srgbClr val="475569"/>
                </a:solidFill>
                <a:latin typeface="Segoe UI"/>
              </a:defRPr>
            </a:pPr>
            <a:r>
              <a:t>Technical Q&amp;A: Frontend, Offline Sync &amp; PWA Architecture</a:t>
            </a:r>
          </a:p>
          <a:p>
            <a:pPr>
              <a:spcBef>
                <a:spcPts val="1200"/>
              </a:spcBef>
              <a:defRPr sz="1300" b="1">
                <a:solidFill>
                  <a:srgbClr val="0F172A"/>
                </a:solidFill>
                <a:latin typeface="Segoe UI"/>
              </a:defRPr>
            </a:pPr>
            <a:r>
              <a:t>🛡️ 6. Bibhu Bhusan Giri (Tech Lead)</a:t>
            </a:r>
          </a:p>
          <a:p>
            <a:pPr>
              <a:spcBef>
                <a:spcPts val="100"/>
              </a:spcBef>
              <a:defRPr sz="1100">
                <a:solidFill>
                  <a:srgbClr val="475569"/>
                </a:solidFill>
                <a:latin typeface="Segoe UI"/>
              </a:defRPr>
            </a:pPr>
            <a:r>
              <a:t>Technical Q&amp;A: Gate Security, Tamper-Proof Audit &amp; RBAC</a:t>
            </a:r>
          </a:p>
        </p:txBody>
      </p:sp>
      <p:sp>
        <p:nvSpPr>
          <p:cNvPr id="8" name="TextBox 7"/>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01 /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GROUND REALITY · 3 INSTITUTIONAL FAILURES · THE SOLUTION</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The Campus Reality vs The Operating Layer</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Moving from 3 broken operational failures to 1 reliable, closed-loop workflow</a:t>
            </a:r>
          </a:p>
        </p:txBody>
      </p:sp>
      <p:sp>
        <p:nvSpPr>
          <p:cNvPr id="6" name="Rounded Rectangle 5"/>
          <p:cNvSpPr/>
          <p:nvPr/>
        </p:nvSpPr>
        <p:spPr>
          <a:xfrm>
            <a:off x="731520" y="1920240"/>
            <a:ext cx="8046720" cy="5486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latin typeface="Segoe UI"/>
              </a:defRPr>
            </a:pPr>
            <a:r>
              <a:t>⚠️ THE 3 CRITICAL CAMPUS FAILURES (TODAY)</a:t>
            </a:r>
          </a:p>
        </p:txBody>
      </p:sp>
      <p:sp>
        <p:nvSpPr>
          <p:cNvPr id="7" name="Rounded Rectangle 6"/>
          <p:cNvSpPr/>
          <p:nvPr/>
        </p:nvSpPr>
        <p:spPr>
          <a:xfrm>
            <a:off x="731520" y="2651760"/>
            <a:ext cx="804672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DC2626"/>
                </a:solidFill>
                <a:latin typeface="Segoe UI"/>
              </a:defRPr>
            </a:pPr>
            <a:r>
              <a:t>1. Ghost Resolutions</a:t>
            </a:r>
          </a:p>
          <a:p>
            <a:pPr>
              <a:spcBef>
                <a:spcPts val="600"/>
              </a:spcBef>
              <a:defRPr sz="1200">
                <a:solidFill>
                  <a:srgbClr val="475569"/>
                </a:solidFill>
                <a:latin typeface="Segoe UI"/>
              </a:defRPr>
            </a:pPr>
            <a:r>
              <a:t>Technicians mark paper complaints as 'Closed' just to clean up queues, while the student's bathroom tap is still leaking with zero fix.</a:t>
            </a:r>
          </a:p>
        </p:txBody>
      </p:sp>
      <p:sp>
        <p:nvSpPr>
          <p:cNvPr id="8" name="Rounded Rectangle 7"/>
          <p:cNvSpPr/>
          <p:nvPr/>
        </p:nvSpPr>
        <p:spPr>
          <a:xfrm>
            <a:off x="731520" y="4754879"/>
            <a:ext cx="804672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DC2626"/>
                </a:solidFill>
                <a:latin typeface="Segoe UI"/>
              </a:defRPr>
            </a:pPr>
            <a:r>
              <a:t>2. Porous Perimeter Security</a:t>
            </a:r>
          </a:p>
          <a:p>
            <a:pPr>
              <a:spcBef>
                <a:spcPts val="600"/>
              </a:spcBef>
              <a:defRPr sz="1200">
                <a:solidFill>
                  <a:srgbClr val="475569"/>
                </a:solidFill>
                <a:latin typeface="Segoe UI"/>
              </a:defRPr>
            </a:pPr>
            <a:r>
              <a:t>Paper gate registers cannot stop students from sharing passes or sneaking out twice on the same slip. No live outside headcount.</a:t>
            </a:r>
          </a:p>
        </p:txBody>
      </p:sp>
      <p:sp>
        <p:nvSpPr>
          <p:cNvPr id="9" name="Rounded Rectangle 8"/>
          <p:cNvSpPr/>
          <p:nvPr/>
        </p:nvSpPr>
        <p:spPr>
          <a:xfrm>
            <a:off x="731520" y="6858000"/>
            <a:ext cx="804672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DC2626"/>
                </a:solidFill>
                <a:latin typeface="Segoe UI"/>
              </a:defRPr>
            </a:pPr>
            <a:r>
              <a:t>3. The Network Dead Zone</a:t>
            </a:r>
          </a:p>
          <a:p>
            <a:pPr>
              <a:spcBef>
                <a:spcPts val="600"/>
              </a:spcBef>
              <a:defRPr sz="1200">
                <a:solidFill>
                  <a:srgbClr val="475569"/>
                </a:solidFill>
                <a:latin typeface="Segoe UI"/>
              </a:defRPr>
            </a:pPr>
            <a:r>
              <a:t>Hostels and basements have zero Wi-Fi or data. Web portals crash when offline, and students without smartphones are completely locked out.</a:t>
            </a:r>
          </a:p>
        </p:txBody>
      </p:sp>
      <p:sp>
        <p:nvSpPr>
          <p:cNvPr id="10" name="Rounded Rectangle 9"/>
          <p:cNvSpPr/>
          <p:nvPr/>
        </p:nvSpPr>
        <p:spPr>
          <a:xfrm>
            <a:off x="9509760" y="1920240"/>
            <a:ext cx="8046720" cy="54864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9669"/>
                </a:solidFill>
                <a:latin typeface="Segoe UI"/>
              </a:defRPr>
            </a:pPr>
            <a:r>
              <a:t>✅ HOW CAMPUS RELAY SOLVES EACH FAILURE</a:t>
            </a:r>
          </a:p>
        </p:txBody>
      </p:sp>
      <p:sp>
        <p:nvSpPr>
          <p:cNvPr id="11" name="Rounded Rectangle 10"/>
          <p:cNvSpPr/>
          <p:nvPr/>
        </p:nvSpPr>
        <p:spPr>
          <a:xfrm>
            <a:off x="9509760" y="2651760"/>
            <a:ext cx="804672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059669"/>
                </a:solidFill>
                <a:latin typeface="Segoe UI"/>
              </a:defRPr>
            </a:pPr>
            <a:r>
              <a:t>1. Requester Verification Guard</a:t>
            </a:r>
          </a:p>
          <a:p>
            <a:pPr>
              <a:spcBef>
                <a:spcPts val="600"/>
              </a:spcBef>
              <a:defRPr sz="1200">
                <a:solidFill>
                  <a:srgbClr val="475569"/>
                </a:solidFill>
                <a:latin typeface="Segoe UI"/>
              </a:defRPr>
            </a:pPr>
            <a:r>
              <a:t>Staff can only mark tickets as 'RESOLVED'. A ticket CANNOT close until the student confirms: 'Yes, it is fixed'. Reopens instantly if unsatisfied!</a:t>
            </a:r>
          </a:p>
        </p:txBody>
      </p:sp>
      <p:sp>
        <p:nvSpPr>
          <p:cNvPr id="12" name="Rounded Rectangle 11"/>
          <p:cNvSpPr/>
          <p:nvPr/>
        </p:nvSpPr>
        <p:spPr>
          <a:xfrm>
            <a:off x="9509760" y="4754879"/>
            <a:ext cx="804672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059669"/>
                </a:solidFill>
                <a:latin typeface="Segoe UI"/>
              </a:defRPr>
            </a:pPr>
            <a:r>
              <a:t>2. Anti-Passback Digital Gate Pass</a:t>
            </a:r>
          </a:p>
          <a:p>
            <a:pPr>
              <a:spcBef>
                <a:spcPts val="600"/>
              </a:spcBef>
              <a:defRPr sz="1200">
                <a:solidFill>
                  <a:srgbClr val="475569"/>
                </a:solidFill>
                <a:latin typeface="Segoe UI"/>
              </a:defRPr>
            </a:pPr>
            <a:r>
              <a:t>Sub-150ms verification with cryptographic QR. Passes automatically lock upon exit to prevent duplicate reuse, with live outside headcount.</a:t>
            </a:r>
          </a:p>
        </p:txBody>
      </p:sp>
      <p:sp>
        <p:nvSpPr>
          <p:cNvPr id="13" name="Rounded Rectangle 12"/>
          <p:cNvSpPr/>
          <p:nvPr/>
        </p:nvSpPr>
        <p:spPr>
          <a:xfrm>
            <a:off x="9509760" y="6858000"/>
            <a:ext cx="804672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059669"/>
                </a:solidFill>
                <a:latin typeface="Segoe UI"/>
              </a:defRPr>
            </a:pPr>
            <a:r>
              <a:t>3. Local-First PWA + Lobby Kiosks</a:t>
            </a:r>
          </a:p>
          <a:p>
            <a:pPr>
              <a:spcBef>
                <a:spcPts val="600"/>
              </a:spcBef>
              <a:defRPr sz="1200">
                <a:solidFill>
                  <a:srgbClr val="475569"/>
                </a:solidFill>
                <a:latin typeface="Segoe UI"/>
              </a:defRPr>
            </a:pPr>
            <a:r>
              <a:t>IndexedDB outbox queues sync automatically when online. Touch kiosks in lobbies allow students without phones to file tickets using Roll Number.</a:t>
            </a:r>
          </a:p>
        </p:txBody>
      </p:sp>
      <p:sp>
        <p:nvSpPr>
          <p:cNvPr id="14" name="Rounded Rectangle 13"/>
          <p:cNvSpPr/>
          <p:nvPr/>
        </p:nvSpPr>
        <p:spPr>
          <a:xfrm>
            <a:off x="731520" y="8961120"/>
            <a:ext cx="16824960" cy="5486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F46E5"/>
                </a:solidFill>
                <a:latin typeface="Segoe UI"/>
              </a:defRPr>
            </a:pPr>
            <a:r>
              <a:t>UNIVERSAL ENGINE:  Report  ➔  Validate  ➔  Route / Approve  ➔  Track SLA  ➔  Resolve  ➔  Requester Verifies  ➔  Immutable Audit</a:t>
            </a:r>
          </a:p>
        </p:txBody>
      </p:sp>
      <p:sp>
        <p:nvSpPr>
          <p:cNvPr id="15" name="TextBox 14"/>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ENGINEERING RIGOR · SYSTEM ARCHITECTURE</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High-Concurrency System Architecture</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Deterministic, sub-second performance engineered for thousands of concurrent campus users</a:t>
            </a:r>
          </a:p>
        </p:txBody>
      </p:sp>
      <p:pic>
        <p:nvPicPr>
          <p:cNvPr id="6" name="Picture 5" descr="campus_relay_architecture_diagram.jpg"/>
          <p:cNvPicPr>
            <a:picLocks noChangeAspect="1"/>
          </p:cNvPicPr>
          <p:nvPr/>
        </p:nvPicPr>
        <p:blipFill>
          <a:blip r:embed="rId2"/>
          <a:stretch>
            <a:fillRect/>
          </a:stretch>
        </p:blipFill>
        <p:spPr>
          <a:xfrm>
            <a:off x="731520" y="1920240"/>
            <a:ext cx="16824960" cy="6217920"/>
          </a:xfrm>
          <a:prstGeom prst="rect">
            <a:avLst/>
          </a:prstGeom>
        </p:spPr>
      </p:pic>
      <p:sp>
        <p:nvSpPr>
          <p:cNvPr id="7" name="Rounded Rectangle 6"/>
          <p:cNvSpPr/>
          <p:nvPr/>
        </p:nvSpPr>
        <p:spPr>
          <a:xfrm>
            <a:off x="731520" y="8321040"/>
            <a:ext cx="40690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200" b="1">
                <a:solidFill>
                  <a:srgbClr val="2563EB"/>
                </a:solidFill>
                <a:latin typeface="Segoe UI"/>
              </a:defRPr>
            </a:pPr>
            <a:r>
              <a:t>Frontend PWA Shell</a:t>
            </a:r>
          </a:p>
          <a:p>
            <a:pPr>
              <a:spcBef>
                <a:spcPts val="300"/>
              </a:spcBef>
              <a:defRPr sz="1000">
                <a:solidFill>
                  <a:srgbClr val="475569"/>
                </a:solidFill>
                <a:latin typeface="Segoe UI"/>
              </a:defRPr>
            </a:pPr>
            <a:r>
              <a:t>React 18 · TypeScript 5 · Workbox PWA</a:t>
            </a:r>
            <a:br/>
            <a:r>
              <a:t>IndexedDB local outbox queue</a:t>
            </a:r>
          </a:p>
        </p:txBody>
      </p:sp>
      <p:sp>
        <p:nvSpPr>
          <p:cNvPr id="8" name="Rounded Rectangle 7"/>
          <p:cNvSpPr/>
          <p:nvPr/>
        </p:nvSpPr>
        <p:spPr>
          <a:xfrm>
            <a:off x="4983480" y="8321040"/>
            <a:ext cx="40690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200" b="1">
                <a:solidFill>
                  <a:srgbClr val="4F46E5"/>
                </a:solidFill>
                <a:latin typeface="Segoe UI"/>
              </a:defRPr>
            </a:pPr>
            <a:r>
              <a:t>High-Throughput API</a:t>
            </a:r>
          </a:p>
          <a:p>
            <a:pPr>
              <a:spcBef>
                <a:spcPts val="300"/>
              </a:spcBef>
              <a:defRPr sz="1000">
                <a:solidFill>
                  <a:srgbClr val="475569"/>
                </a:solidFill>
                <a:latin typeface="Segoe UI"/>
              </a:defRPr>
            </a:pPr>
            <a:r>
              <a:t>Python 3.12 · FastAPI async endpoints</a:t>
            </a:r>
            <a:br/>
            <a:r>
              <a:t>Pydantic v2 strict schema validation</a:t>
            </a:r>
          </a:p>
        </p:txBody>
      </p:sp>
      <p:sp>
        <p:nvSpPr>
          <p:cNvPr id="9" name="Rounded Rectangle 8"/>
          <p:cNvSpPr/>
          <p:nvPr/>
        </p:nvSpPr>
        <p:spPr>
          <a:xfrm>
            <a:off x="9235440" y="8321040"/>
            <a:ext cx="40690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200" b="1">
                <a:solidFill>
                  <a:srgbClr val="059669"/>
                </a:solidFill>
                <a:latin typeface="Segoe UI"/>
              </a:defRPr>
            </a:pPr>
            <a:r>
              <a:t>Append-Only Ledger</a:t>
            </a:r>
          </a:p>
          <a:p>
            <a:pPr>
              <a:spcBef>
                <a:spcPts val="300"/>
              </a:spcBef>
              <a:defRPr sz="1000">
                <a:solidFill>
                  <a:srgbClr val="475569"/>
                </a:solidFill>
                <a:latin typeface="Segoe UI"/>
              </a:defRPr>
            </a:pPr>
            <a:r>
              <a:t>PostgreSQL 16 · SQLAlchemy 2.0 ORM</a:t>
            </a:r>
            <a:br/>
            <a:r>
              <a:t>DB triggers block UPDATE &amp; DELETE</a:t>
            </a:r>
          </a:p>
        </p:txBody>
      </p:sp>
      <p:sp>
        <p:nvSpPr>
          <p:cNvPr id="10" name="Rounded Rectangle 9"/>
          <p:cNvSpPr/>
          <p:nvPr/>
        </p:nvSpPr>
        <p:spPr>
          <a:xfrm>
            <a:off x="13487400" y="8321040"/>
            <a:ext cx="40690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200" b="1">
                <a:solidFill>
                  <a:srgbClr val="D97706"/>
                </a:solidFill>
                <a:latin typeface="Segoe UI"/>
              </a:defRPr>
            </a:pPr>
            <a:r>
              <a:t>3 Consolidated Roles</a:t>
            </a:r>
          </a:p>
          <a:p>
            <a:pPr>
              <a:spcBef>
                <a:spcPts val="300"/>
              </a:spcBef>
              <a:defRPr sz="1000">
                <a:solidFill>
                  <a:srgbClr val="475569"/>
                </a:solidFill>
                <a:latin typeface="Segoe UI"/>
              </a:defRPr>
            </a:pPr>
            <a:r>
              <a:t>Student · Teacher · Management</a:t>
            </a:r>
            <a:br/>
            <a:r>
              <a:t>Scoped stations: Gate, Kiosk, Warden</a:t>
            </a:r>
          </a:p>
        </p:txBody>
      </p:sp>
      <p:sp>
        <p:nvSpPr>
          <p:cNvPr id="11" name="TextBox 10"/>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DETERMINISTIC STATE MACHINE · ZERO GHOST RESOLUTIONS</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The Unified Request Lifecycle</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Ending 'Ghost Resolutions' with Mandatory Requester Verification and Active SLAs</a:t>
            </a:r>
          </a:p>
        </p:txBody>
      </p:sp>
      <p:sp>
        <p:nvSpPr>
          <p:cNvPr id="6" name="Rounded Rectangle 5"/>
          <p:cNvSpPr/>
          <p:nvPr/>
        </p:nvSpPr>
        <p:spPr>
          <a:xfrm>
            <a:off x="731520" y="2011680"/>
            <a:ext cx="3200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a:lstStyle/>
          <a:p>
            <a:pPr algn="ctr">
              <a:defRPr sz="1400" b="1">
                <a:solidFill>
                  <a:srgbClr val="2563EB"/>
                </a:solidFill>
                <a:latin typeface="Segoe UI"/>
              </a:defRPr>
            </a:pPr>
            <a:r>
              <a:t>Step 1: Intake &amp; Bind</a:t>
            </a:r>
          </a:p>
          <a:p>
            <a:pPr>
              <a:spcBef>
                <a:spcPts val="200"/>
              </a:spcBef>
              <a:defRPr sz="1100">
                <a:solidFill>
                  <a:srgbClr val="475569"/>
                </a:solidFill>
                <a:latin typeface="Segoe UI"/>
              </a:defRPr>
            </a:pPr>
            <a:r>
              <a:t>Room QR / PWA / Kiosk</a:t>
            </a:r>
          </a:p>
          <a:p>
            <a:pPr>
              <a:spcBef>
                <a:spcPts val="1400"/>
              </a:spcBef>
              <a:defRPr sz="1200">
                <a:solidFill>
                  <a:srgbClr val="0F172A"/>
                </a:solidFill>
                <a:latin typeface="Segoe UI"/>
              </a:defRPr>
            </a:pPr>
            <a:r>
              <a:t>Student scans wall QR code. Location, room, and hostel block auto-binds in 2 taps without manual typing.</a:t>
            </a:r>
          </a:p>
        </p:txBody>
      </p:sp>
      <p:sp>
        <p:nvSpPr>
          <p:cNvPr id="7" name="Rounded Rectangle 6"/>
          <p:cNvSpPr/>
          <p:nvPr/>
        </p:nvSpPr>
        <p:spPr>
          <a:xfrm>
            <a:off x="4114800" y="2011680"/>
            <a:ext cx="3200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a:lstStyle/>
          <a:p>
            <a:pPr algn="ctr">
              <a:defRPr sz="1400" b="1">
                <a:solidFill>
                  <a:srgbClr val="4F46E5"/>
                </a:solidFill>
                <a:latin typeface="Segoe UI"/>
              </a:defRPr>
            </a:pPr>
            <a:r>
              <a:t>Step 2: Routing &amp; SLA</a:t>
            </a:r>
          </a:p>
          <a:p>
            <a:pPr>
              <a:spcBef>
                <a:spcPts val="200"/>
              </a:spcBef>
              <a:defRPr sz="1100">
                <a:solidFill>
                  <a:srgbClr val="475569"/>
                </a:solidFill>
                <a:latin typeface="Segoe UI"/>
              </a:defRPr>
            </a:pPr>
            <a:r>
              <a:t>Intelligent Dispatch</a:t>
            </a:r>
          </a:p>
          <a:p>
            <a:pPr>
              <a:spcBef>
                <a:spcPts val="1400"/>
              </a:spcBef>
              <a:defRPr sz="1200">
                <a:solidFill>
                  <a:srgbClr val="0F172A"/>
                </a:solidFill>
                <a:latin typeface="Segoe UI"/>
              </a:defRPr>
            </a:pPr>
            <a:r>
              <a:t>Evaluates technician skill &amp; workload. Assigns task and triggers active SLA countdown (e.g. 4 hours).</a:t>
            </a:r>
          </a:p>
        </p:txBody>
      </p:sp>
      <p:sp>
        <p:nvSpPr>
          <p:cNvPr id="8" name="Rounded Rectangle 7"/>
          <p:cNvSpPr/>
          <p:nvPr/>
        </p:nvSpPr>
        <p:spPr>
          <a:xfrm>
            <a:off x="7498080" y="2011680"/>
            <a:ext cx="3200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a:lstStyle/>
          <a:p>
            <a:pPr algn="ctr">
              <a:defRPr sz="1400" b="1">
                <a:solidFill>
                  <a:srgbClr val="D97706"/>
                </a:solidFill>
                <a:latin typeface="Segoe UI"/>
              </a:defRPr>
            </a:pPr>
            <a:r>
              <a:t>Step 3: Staff Resolution</a:t>
            </a:r>
          </a:p>
          <a:p>
            <a:pPr>
              <a:spcBef>
                <a:spcPts val="200"/>
              </a:spcBef>
              <a:defRPr sz="1100">
                <a:solidFill>
                  <a:srgbClr val="475569"/>
                </a:solidFill>
                <a:latin typeface="Segoe UI"/>
              </a:defRPr>
            </a:pPr>
            <a:r>
              <a:t>Work &amp; Photo Proof</a:t>
            </a:r>
          </a:p>
          <a:p>
            <a:pPr>
              <a:spcBef>
                <a:spcPts val="1400"/>
              </a:spcBef>
              <a:defRPr sz="1200">
                <a:solidFill>
                  <a:srgbClr val="0F172A"/>
                </a:solidFill>
                <a:latin typeface="Segoe UI"/>
              </a:defRPr>
            </a:pPr>
            <a:r>
              <a:t>Technician completes fix, uploads completion photo proof, and changes state to RESOLVED.</a:t>
            </a:r>
          </a:p>
        </p:txBody>
      </p:sp>
      <p:sp>
        <p:nvSpPr>
          <p:cNvPr id="9" name="Rounded Rectangle 8"/>
          <p:cNvSpPr/>
          <p:nvPr/>
        </p:nvSpPr>
        <p:spPr>
          <a:xfrm>
            <a:off x="10881360" y="2011680"/>
            <a:ext cx="3200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a:lstStyle/>
          <a:p>
            <a:pPr algn="ctr">
              <a:defRPr sz="1400" b="1">
                <a:solidFill>
                  <a:srgbClr val="059669"/>
                </a:solidFill>
                <a:latin typeface="Segoe UI"/>
              </a:defRPr>
            </a:pPr>
            <a:r>
              <a:t>Step 4: Requester Guard</a:t>
            </a:r>
          </a:p>
          <a:p>
            <a:pPr>
              <a:spcBef>
                <a:spcPts val="200"/>
              </a:spcBef>
              <a:defRPr sz="1100">
                <a:solidFill>
                  <a:srgbClr val="475569"/>
                </a:solidFill>
                <a:latin typeface="Segoe UI"/>
              </a:defRPr>
            </a:pPr>
            <a:r>
              <a:t>Student Verification</a:t>
            </a:r>
          </a:p>
          <a:p>
            <a:pPr>
              <a:spcBef>
                <a:spcPts val="1400"/>
              </a:spcBef>
              <a:defRPr sz="1200">
                <a:solidFill>
                  <a:srgbClr val="0F172A"/>
                </a:solidFill>
                <a:latin typeface="Segoe UI"/>
              </a:defRPr>
            </a:pPr>
            <a:r>
              <a:t>TICKET DOES NOT CLOSE! Student checks fix. Confirms CLOSED or clicks REOPEN to escalate.</a:t>
            </a:r>
          </a:p>
        </p:txBody>
      </p:sp>
      <p:sp>
        <p:nvSpPr>
          <p:cNvPr id="10" name="Rounded Rectangle 9"/>
          <p:cNvSpPr/>
          <p:nvPr/>
        </p:nvSpPr>
        <p:spPr>
          <a:xfrm>
            <a:off x="14264640" y="2011680"/>
            <a:ext cx="3200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a:lstStyle/>
          <a:p>
            <a:pPr algn="ctr">
              <a:defRPr sz="1400" b="1">
                <a:solidFill>
                  <a:srgbClr val="0F172A"/>
                </a:solidFill>
                <a:latin typeface="Segoe UI"/>
              </a:defRPr>
            </a:pPr>
            <a:r>
              <a:t>Step 5: Immutable Audit</a:t>
            </a:r>
          </a:p>
          <a:p>
            <a:pPr>
              <a:spcBef>
                <a:spcPts val="200"/>
              </a:spcBef>
              <a:defRPr sz="1100">
                <a:solidFill>
                  <a:srgbClr val="475569"/>
                </a:solidFill>
                <a:latin typeface="Segoe UI"/>
              </a:defRPr>
            </a:pPr>
            <a:r>
              <a:t>Append-Only Record</a:t>
            </a:r>
          </a:p>
          <a:p>
            <a:pPr>
              <a:spcBef>
                <a:spcPts val="1400"/>
              </a:spcBef>
              <a:defRPr sz="1200">
                <a:solidFill>
                  <a:srgbClr val="0F172A"/>
                </a:solidFill>
                <a:latin typeface="Segoe UI"/>
              </a:defRPr>
            </a:pPr>
            <a:r>
              <a:t>Every state change, photo, and timestamp written to PostgreSQL ledger with trigger locks.</a:t>
            </a:r>
          </a:p>
        </p:txBody>
      </p:sp>
      <p:sp>
        <p:nvSpPr>
          <p:cNvPr id="11" name="Rounded Rectangle 10"/>
          <p:cNvSpPr/>
          <p:nvPr/>
        </p:nvSpPr>
        <p:spPr>
          <a:xfrm>
            <a:off x="731520" y="6858000"/>
            <a:ext cx="16824960" cy="2560320"/>
          </a:xfrm>
          <a:prstGeom prst="roundRect">
            <a:avLst/>
          </a:prstGeom>
          <a:solidFill>
            <a:srgbClr val="ECFDF5"/>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400" b="1">
                <a:solidFill>
                  <a:srgbClr val="059669"/>
                </a:solidFill>
                <a:latin typeface="Segoe UI"/>
              </a:defRPr>
            </a:pPr>
            <a:r>
              <a:t>🛡️ THE REQUESTER VERIFICATION GUARD: HOW WE END GHOST RESOLUTIONS</a:t>
            </a:r>
          </a:p>
          <a:p>
            <a:pPr>
              <a:spcBef>
                <a:spcPts val="800"/>
              </a:spcBef>
              <a:defRPr sz="1300">
                <a:solidFill>
                  <a:srgbClr val="0F172A"/>
                </a:solidFill>
                <a:latin typeface="Segoe UI"/>
              </a:defRPr>
            </a:pPr>
            <a:r>
              <a:t>• The Golden Rule: Maintenance staff and contractors CAN ONLY mark a case as RESOLVED.</a:t>
            </a:r>
            <a:br/>
            <a:r>
              <a:t>• Absolute Lock: A case physically CANNOT reach CLOSED status until the student confirms: 'Yes, my tap is working.'</a:t>
            </a:r>
            <a:br/>
            <a:r>
              <a:t>• Instant Escalation: If the issue persists, the student clicks 'Reopen'. The ticket bounces immediately into the Warden's priority dashboard with historical delay penalties.</a:t>
            </a:r>
            <a:br/>
            <a:r>
              <a:t>• Result: Zero ghost resolutions, zero false paperwork, and 100% verified campus maintenance.</a:t>
            </a:r>
          </a:p>
        </p:txBody>
      </p:sp>
      <p:sp>
        <p:nvSpPr>
          <p:cNvPr id="12" name="TextBox 11"/>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FIELD WORKFLOWS · ANTI-PASSBACK GATE SECURITY</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Field Workflows &amp; Perimeter Security</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Room-Level Maintenance and Anti-Passback Gate Security in Action</a:t>
            </a:r>
          </a:p>
        </p:txBody>
      </p:sp>
      <p:sp>
        <p:nvSpPr>
          <p:cNvPr id="6" name="Rounded Rectangle 5"/>
          <p:cNvSpPr/>
          <p:nvPr/>
        </p:nvSpPr>
        <p:spPr>
          <a:xfrm>
            <a:off x="731520" y="2011680"/>
            <a:ext cx="8046720" cy="6766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300" b="1">
                <a:solidFill>
                  <a:srgbClr val="2563EB"/>
                </a:solidFill>
                <a:latin typeface="Segoe UI"/>
              </a:defRPr>
            </a:pPr>
            <a:r>
              <a:t>WORKFLOW 1: ROOM-LEVEL MAINTENANCE</a:t>
            </a:r>
          </a:p>
          <a:p>
            <a:pPr>
              <a:spcBef>
                <a:spcPts val="1200"/>
              </a:spcBef>
              <a:defRPr sz="1300" b="1">
                <a:solidFill>
                  <a:srgbClr val="0F172A"/>
                </a:solidFill>
                <a:latin typeface="Segoe UI"/>
              </a:defRPr>
            </a:pPr>
            <a:r>
              <a:t>📍 2-Tap Wall QR Intake</a:t>
            </a:r>
          </a:p>
          <a:p>
            <a:pPr>
              <a:spcBef>
                <a:spcPts val="200"/>
              </a:spcBef>
              <a:defRPr sz="1100">
                <a:solidFill>
                  <a:srgbClr val="475569"/>
                </a:solidFill>
                <a:latin typeface="Segoe UI"/>
              </a:defRPr>
            </a:pPr>
            <a:r>
              <a:t>Every hostel room wall has a unique QR code. Scanning auto-populates room number, floor, and block. Zero manual typing errors.</a:t>
            </a:r>
          </a:p>
          <a:p>
            <a:pPr>
              <a:spcBef>
                <a:spcPts val="1200"/>
              </a:spcBef>
              <a:defRPr sz="1300" b="1">
                <a:solidFill>
                  <a:srgbClr val="0F172A"/>
                </a:solidFill>
                <a:latin typeface="Segoe UI"/>
              </a:defRPr>
            </a:pPr>
            <a:r>
              <a:t>⏱️ Active SLA Countdown</a:t>
            </a:r>
          </a:p>
          <a:p>
            <a:pPr>
              <a:spcBef>
                <a:spcPts val="200"/>
              </a:spcBef>
              <a:defRPr sz="1100">
                <a:solidFill>
                  <a:srgbClr val="475569"/>
                </a:solidFill>
                <a:latin typeface="Segoe UI"/>
              </a:defRPr>
            </a:pPr>
            <a:r>
              <a:t>Visible countdown timer keeps technicians accountable. If a repair exceeds the target window, it triggers automatic priority escalation.</a:t>
            </a:r>
          </a:p>
          <a:p>
            <a:pPr>
              <a:spcBef>
                <a:spcPts val="1200"/>
              </a:spcBef>
              <a:defRPr sz="1300" b="1">
                <a:solidFill>
                  <a:srgbClr val="0F172A"/>
                </a:solidFill>
                <a:latin typeface="Segoe UI"/>
              </a:defRPr>
            </a:pPr>
            <a:r>
              <a:t>📸 Photo Proof Mandatory</a:t>
            </a:r>
          </a:p>
          <a:p>
            <a:pPr>
              <a:spcBef>
                <a:spcPts val="200"/>
              </a:spcBef>
              <a:defRPr sz="1100">
                <a:solidFill>
                  <a:srgbClr val="475569"/>
                </a:solidFill>
                <a:latin typeface="Segoe UI"/>
              </a:defRPr>
            </a:pPr>
            <a:r>
              <a:t>Technicians must upload photo evidence of the completed repair before submitting, preventing fraudulent claims.</a:t>
            </a:r>
          </a:p>
          <a:p>
            <a:pPr>
              <a:spcBef>
                <a:spcPts val="1200"/>
              </a:spcBef>
              <a:defRPr sz="1300" b="1">
                <a:solidFill>
                  <a:srgbClr val="0F172A"/>
                </a:solidFill>
                <a:latin typeface="Segoe UI"/>
              </a:defRPr>
            </a:pPr>
            <a:r>
              <a:t>🚫 Zero WhatsApp Spam</a:t>
            </a:r>
          </a:p>
          <a:p>
            <a:pPr>
              <a:spcBef>
                <a:spcPts val="200"/>
              </a:spcBef>
              <a:defRPr sz="1100">
                <a:solidFill>
                  <a:srgbClr val="475569"/>
                </a:solidFill>
                <a:latin typeface="Segoe UI"/>
              </a:defRPr>
            </a:pPr>
            <a:r>
              <a:t>Replaces messy 500-student chat groups with private, deterministic status tracking directly between student and maintenance staff.</a:t>
            </a:r>
          </a:p>
        </p:txBody>
      </p:sp>
      <p:sp>
        <p:nvSpPr>
          <p:cNvPr id="7" name="Rounded Rectangle 6"/>
          <p:cNvSpPr/>
          <p:nvPr/>
        </p:nvSpPr>
        <p:spPr>
          <a:xfrm>
            <a:off x="9509760" y="2011680"/>
            <a:ext cx="8046720" cy="6766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300" b="1">
                <a:solidFill>
                  <a:srgbClr val="059669"/>
                </a:solidFill>
                <a:latin typeface="Segoe UI"/>
              </a:defRPr>
            </a:pPr>
            <a:r>
              <a:t>WORKFLOW 2: DIGITAL GATE PASS &amp; ANTI-PASSBACK</a:t>
            </a:r>
          </a:p>
          <a:p>
            <a:pPr>
              <a:spcBef>
                <a:spcPts val="1200"/>
              </a:spcBef>
              <a:defRPr sz="1300" b="1">
                <a:solidFill>
                  <a:srgbClr val="0F172A"/>
                </a:solidFill>
                <a:latin typeface="Segoe UI"/>
              </a:defRPr>
            </a:pPr>
            <a:r>
              <a:t>⚡ 1-Second Digital Pass Issuance</a:t>
            </a:r>
          </a:p>
          <a:p>
            <a:pPr>
              <a:spcBef>
                <a:spcPts val="200"/>
              </a:spcBef>
              <a:defRPr sz="1100">
                <a:solidFill>
                  <a:srgbClr val="475569"/>
                </a:solidFill>
                <a:latin typeface="Segoe UI"/>
              </a:defRPr>
            </a:pPr>
            <a:r>
              <a:t>Student requests leave; Warden verifies guardian contact and approves. Cryptographic QR pass generated instantly on student phone.</a:t>
            </a:r>
          </a:p>
          <a:p>
            <a:pPr>
              <a:spcBef>
                <a:spcPts val="1200"/>
              </a:spcBef>
              <a:defRPr sz="1300" b="1">
                <a:solidFill>
                  <a:srgbClr val="0F172A"/>
                </a:solidFill>
                <a:latin typeface="Segoe UI"/>
              </a:defRPr>
            </a:pPr>
            <a:r>
              <a:t>🛡️ Sub-150ms Gate Scanner Verification</a:t>
            </a:r>
          </a:p>
          <a:p>
            <a:pPr>
              <a:spcBef>
                <a:spcPts val="200"/>
              </a:spcBef>
              <a:defRPr sz="1100">
                <a:solidFill>
                  <a:srgbClr val="475569"/>
                </a:solidFill>
                <a:latin typeface="Segoe UI"/>
              </a:defRPr>
            </a:pPr>
            <a:r>
              <a:t>Security guard scans pass on tablet. Verified instantly: student photo, roll number, validity window, and pass authenticity displayed.</a:t>
            </a:r>
          </a:p>
          <a:p>
            <a:pPr>
              <a:spcBef>
                <a:spcPts val="1200"/>
              </a:spcBef>
              <a:defRPr sz="1300" b="1">
                <a:solidFill>
                  <a:srgbClr val="0F172A"/>
                </a:solidFill>
                <a:latin typeface="Segoe UI"/>
              </a:defRPr>
            </a:pPr>
            <a:r>
              <a:t>🔒 Strict Anti-Passback Enforcement</a:t>
            </a:r>
          </a:p>
          <a:p>
            <a:pPr>
              <a:spcBef>
                <a:spcPts val="200"/>
              </a:spcBef>
              <a:defRPr sz="1100">
                <a:solidFill>
                  <a:srgbClr val="475569"/>
                </a:solidFill>
                <a:latin typeface="Segoe UI"/>
              </a:defRPr>
            </a:pPr>
            <a:r>
              <a:t>Once a student exits, the pass state transitions to OUT_OF_CAMPUS. A friend cannot reuse the QR code, and duplicate exits are physically blocked.</a:t>
            </a:r>
          </a:p>
          <a:p>
            <a:pPr>
              <a:spcBef>
                <a:spcPts val="1200"/>
              </a:spcBef>
              <a:defRPr sz="1300" b="1">
                <a:solidFill>
                  <a:srgbClr val="0F172A"/>
                </a:solidFill>
                <a:latin typeface="Segoe UI"/>
              </a:defRPr>
            </a:pPr>
            <a:r>
              <a:t>📊 Live Outside Headcount</a:t>
            </a:r>
          </a:p>
          <a:p>
            <a:pPr>
              <a:spcBef>
                <a:spcPts val="200"/>
              </a:spcBef>
              <a:defRPr sz="1100">
                <a:solidFill>
                  <a:srgbClr val="475569"/>
                </a:solidFill>
                <a:latin typeface="Segoe UI"/>
              </a:defRPr>
            </a:pPr>
            <a:r>
              <a:t>The Principal and Chief Warden have a real-time dashboard displaying the exact count and identities of all students currently outside campus.</a:t>
            </a:r>
          </a:p>
        </p:txBody>
      </p:sp>
      <p:sp>
        <p:nvSpPr>
          <p:cNvPr id="8" name="Rounded Rectangle 7"/>
          <p:cNvSpPr/>
          <p:nvPr/>
        </p:nvSpPr>
        <p:spPr>
          <a:xfrm>
            <a:off x="731520" y="8961120"/>
            <a:ext cx="16824960" cy="54864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9669"/>
                </a:solidFill>
                <a:latin typeface="Segoe UI"/>
              </a:defRPr>
            </a:pPr>
            <a:r>
              <a:t>VERIFIED IN CODE: All workflows proven end-to-end in automated test suites (Hostel, Leave, Gate Desk, and Notifications).</a:t>
            </a:r>
          </a:p>
        </p:txBody>
      </p:sp>
      <p:sp>
        <p:nvSpPr>
          <p:cNvPr id="9" name="TextBox 8"/>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PRODUCTION UI · PURPOSE-BUILT STATIONS</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Live Stations &amp; Production Interfaces</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Dedicated, high-contrast screens for Students, Security Guards, and Administrators</a:t>
            </a:r>
          </a:p>
        </p:txBody>
      </p:sp>
      <p:pic>
        <p:nvPicPr>
          <p:cNvPr id="6" name="Picture 5" descr="campus_relay_wireframe_mockup.jpg"/>
          <p:cNvPicPr>
            <a:picLocks noChangeAspect="1"/>
          </p:cNvPicPr>
          <p:nvPr/>
        </p:nvPicPr>
        <p:blipFill>
          <a:blip r:embed="rId2"/>
          <a:stretch>
            <a:fillRect/>
          </a:stretch>
        </p:blipFill>
        <p:spPr>
          <a:xfrm>
            <a:off x="731520" y="1920240"/>
            <a:ext cx="16824960" cy="6217920"/>
          </a:xfrm>
          <a:prstGeom prst="rect">
            <a:avLst/>
          </a:prstGeom>
        </p:spPr>
      </p:pic>
      <p:sp>
        <p:nvSpPr>
          <p:cNvPr id="7" name="Rounded Rectangle 6"/>
          <p:cNvSpPr/>
          <p:nvPr/>
        </p:nvSpPr>
        <p:spPr>
          <a:xfrm>
            <a:off x="731520" y="8321040"/>
            <a:ext cx="539496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defRPr sz="1300" b="1">
                <a:solidFill>
                  <a:srgbClr val="2563EB"/>
                </a:solidFill>
                <a:latin typeface="Segoe UI"/>
              </a:defRPr>
            </a:pPr>
            <a:r>
              <a:t>📱 Student Mobile PWA</a:t>
            </a:r>
          </a:p>
          <a:p>
            <a:pPr>
              <a:spcBef>
                <a:spcPts val="300"/>
              </a:spcBef>
              <a:defRPr sz="1100">
                <a:solidFill>
                  <a:srgbClr val="475569"/>
                </a:solidFill>
                <a:latin typeface="Segoe UI"/>
              </a:defRPr>
            </a:pPr>
            <a:r>
              <a:t>Instant Room QR scanning, live countdown timer, and 1-tap resolution confirmation.</a:t>
            </a:r>
          </a:p>
        </p:txBody>
      </p:sp>
      <p:sp>
        <p:nvSpPr>
          <p:cNvPr id="8" name="Rounded Rectangle 7"/>
          <p:cNvSpPr/>
          <p:nvPr/>
        </p:nvSpPr>
        <p:spPr>
          <a:xfrm>
            <a:off x="6446520" y="8321040"/>
            <a:ext cx="539496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defRPr sz="1300" b="1">
                <a:solidFill>
                  <a:srgbClr val="059669"/>
                </a:solidFill>
                <a:latin typeface="Segoe UI"/>
              </a:defRPr>
            </a:pPr>
            <a:r>
              <a:t>🛡️ Gate Security Desk</a:t>
            </a:r>
          </a:p>
          <a:p>
            <a:pPr>
              <a:spcBef>
                <a:spcPts val="300"/>
              </a:spcBef>
              <a:defRPr sz="1100">
                <a:solidFill>
                  <a:srgbClr val="475569"/>
                </a:solidFill>
                <a:latin typeface="Segoe UI"/>
              </a:defRPr>
            </a:pPr>
            <a:r>
              <a:t>Sub-150ms verification banner: 'PASS VALID — ALLOW MOVEMENT' and anti-passback guard.</a:t>
            </a:r>
          </a:p>
        </p:txBody>
      </p:sp>
      <p:sp>
        <p:nvSpPr>
          <p:cNvPr id="9" name="Rounded Rectangle 8"/>
          <p:cNvSpPr/>
          <p:nvPr/>
        </p:nvSpPr>
        <p:spPr>
          <a:xfrm>
            <a:off x="12161520" y="8321040"/>
            <a:ext cx="539496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defRPr sz="1300" b="1">
                <a:solidFill>
                  <a:srgbClr val="4F46E5"/>
                </a:solidFill>
                <a:latin typeface="Segoe UI"/>
              </a:defRPr>
            </a:pPr>
            <a:r>
              <a:t>💻 Admin Command Centre</a:t>
            </a:r>
          </a:p>
          <a:p>
            <a:pPr>
              <a:spcBef>
                <a:spcPts val="300"/>
              </a:spcBef>
              <a:defRPr sz="1100">
                <a:solidFill>
                  <a:srgbClr val="475569"/>
                </a:solidFill>
                <a:latin typeface="Segoe UI"/>
              </a:defRPr>
            </a:pPr>
            <a:r>
              <a:t>Live resolution metrics, overdue ageing buckets, and active campus headcounts.</a:t>
            </a:r>
          </a:p>
        </p:txBody>
      </p:sp>
      <p:sp>
        <p:nvSpPr>
          <p:cNvPr id="10" name="TextBox 9"/>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DIGITAL INCLUSIVITY · TARGETED NOTICES · NAAC READINESS</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Digital Equity, Communications &amp; NAAC Readiness</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Including every student, eliminating spam, and delivering auditable institutional governance</a:t>
            </a:r>
          </a:p>
        </p:txBody>
      </p:sp>
      <p:sp>
        <p:nvSpPr>
          <p:cNvPr id="6" name="Rounded Rectangle 5"/>
          <p:cNvSpPr/>
          <p:nvPr/>
        </p:nvSpPr>
        <p:spPr>
          <a:xfrm>
            <a:off x="731520" y="2011680"/>
            <a:ext cx="5394960" cy="7406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sz="1300" b="1">
                <a:solidFill>
                  <a:srgbClr val="2563EB"/>
                </a:solidFill>
                <a:latin typeface="Segoe UI"/>
              </a:defRPr>
            </a:pPr>
            <a:r>
              <a:t>🖥️ TOUCH-FIRST LOBBY KIOSKS</a:t>
            </a:r>
          </a:p>
          <a:p>
            <a:pPr>
              <a:spcBef>
                <a:spcPts val="400"/>
              </a:spcBef>
              <a:defRPr sz="1100" b="1">
                <a:solidFill>
                  <a:srgbClr val="0F172A"/>
                </a:solidFill>
                <a:latin typeface="Segoe UI"/>
              </a:defRPr>
            </a:pPr>
            <a:r>
              <a:t>Digital Equity for Non-Smartphone Users</a:t>
            </a:r>
          </a:p>
          <a:p>
            <a:pPr>
              <a:spcBef>
                <a:spcPts val="1000"/>
              </a:spcBef>
              <a:defRPr sz="1100">
                <a:solidFill>
                  <a:srgbClr val="475569"/>
                </a:solidFill>
                <a:latin typeface="Segoe UI"/>
              </a:defRPr>
            </a:pPr>
            <a:r>
              <a:t>• Self-Service Kiosks deployed in academic lobbies.</a:t>
            </a:r>
          </a:p>
          <a:p>
            <a:pPr>
              <a:spcBef>
                <a:spcPts val="1000"/>
              </a:spcBef>
              <a:defRPr sz="1100">
                <a:solidFill>
                  <a:srgbClr val="475569"/>
                </a:solidFill>
                <a:latin typeface="Segoe UI"/>
              </a:defRPr>
            </a:pPr>
            <a:r>
              <a:t>• Students enter University Roll Number + PIN to raise complaints and view leaves without any smartphone.</a:t>
            </a:r>
          </a:p>
          <a:p>
            <a:pPr>
              <a:spcBef>
                <a:spcPts val="1000"/>
              </a:spcBef>
              <a:defRPr sz="1100">
                <a:solidFill>
                  <a:srgbClr val="475569"/>
                </a:solidFill>
                <a:latin typeface="Segoe UI"/>
              </a:defRPr>
            </a:pPr>
            <a:r>
              <a:t>• Assisted Helpdesk Mode: Staff can file on behalf of students with full proxy tracking.</a:t>
            </a:r>
          </a:p>
          <a:p>
            <a:pPr>
              <a:spcBef>
                <a:spcPts val="1000"/>
              </a:spcBef>
              <a:defRPr sz="1100">
                <a:solidFill>
                  <a:srgbClr val="475569"/>
                </a:solidFill>
                <a:latin typeface="Segoe UI"/>
              </a:defRPr>
            </a:pPr>
            <a:r>
              <a:t>• Fully Trilingual UI: English, Odia, and Hindi supported across all 549 interface keys.</a:t>
            </a:r>
          </a:p>
        </p:txBody>
      </p:sp>
      <p:sp>
        <p:nvSpPr>
          <p:cNvPr id="7" name="Rounded Rectangle 6"/>
          <p:cNvSpPr/>
          <p:nvPr/>
        </p:nvSpPr>
        <p:spPr>
          <a:xfrm>
            <a:off x="6446520" y="2011680"/>
            <a:ext cx="5394960" cy="7406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sz="1300" b="1">
                <a:solidFill>
                  <a:srgbClr val="4F46E5"/>
                </a:solidFill>
                <a:latin typeface="Segoe UI"/>
              </a:defRPr>
            </a:pPr>
            <a:r>
              <a:t>📢 TARGETED NOTICE STUDIO</a:t>
            </a:r>
          </a:p>
          <a:p>
            <a:pPr>
              <a:spcBef>
                <a:spcPts val="400"/>
              </a:spcBef>
              <a:defRPr sz="1100" b="1">
                <a:solidFill>
                  <a:srgbClr val="0F172A"/>
                </a:solidFill>
                <a:latin typeface="Segoe UI"/>
              </a:defRPr>
            </a:pPr>
            <a:r>
              <a:t>Ending Unofficial WhatsApp Group Spam</a:t>
            </a:r>
          </a:p>
          <a:p>
            <a:pPr>
              <a:spcBef>
                <a:spcPts val="1000"/>
              </a:spcBef>
              <a:defRPr sz="1100">
                <a:solidFill>
                  <a:srgbClr val="475569"/>
                </a:solidFill>
                <a:latin typeface="Segoe UI"/>
              </a:defRPr>
            </a:pPr>
            <a:r>
              <a:t>• Targeted Audiences: Deans broadcast notices to specific groups (e.g. 'Hostel Block B' or '3rd Year Mechanical').</a:t>
            </a:r>
          </a:p>
          <a:p>
            <a:pPr>
              <a:spcBef>
                <a:spcPts val="1000"/>
              </a:spcBef>
              <a:defRPr sz="1100">
                <a:solidFill>
                  <a:srgbClr val="475569"/>
                </a:solidFill>
                <a:latin typeface="Segoe UI"/>
              </a:defRPr>
            </a:pPr>
            <a:r>
              <a:t>• Recipient State Machine: Tracks delivery state: Sent ➔ Delivered ➔ Read ➔ Acknowledged.</a:t>
            </a:r>
          </a:p>
          <a:p>
            <a:pPr>
              <a:spcBef>
                <a:spcPts val="1000"/>
              </a:spcBef>
              <a:defRPr sz="1100">
                <a:solidFill>
                  <a:srgbClr val="475569"/>
                </a:solidFill>
                <a:latin typeface="Segoe UI"/>
              </a:defRPr>
            </a:pPr>
            <a:r>
              <a:t>• Emergency Broadcasts: Cyclone alerts, water cuts, and urgent advisories reach students instantly.</a:t>
            </a:r>
          </a:p>
          <a:p>
            <a:pPr>
              <a:spcBef>
                <a:spcPts val="1000"/>
              </a:spcBef>
              <a:defRPr sz="1100">
                <a:solidFill>
                  <a:srgbClr val="475569"/>
                </a:solidFill>
                <a:latin typeface="Segoe UI"/>
              </a:defRPr>
            </a:pPr>
            <a:r>
              <a:t>• Full Audit Proof: Real-time report of exactly who acknowledged the notice.</a:t>
            </a:r>
          </a:p>
        </p:txBody>
      </p:sp>
      <p:sp>
        <p:nvSpPr>
          <p:cNvPr id="8" name="Rounded Rectangle 7"/>
          <p:cNvSpPr/>
          <p:nvPr/>
        </p:nvSpPr>
        <p:spPr>
          <a:xfrm>
            <a:off x="12161520" y="2011680"/>
            <a:ext cx="5394960" cy="7406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sz="1300" b="1">
                <a:solidFill>
                  <a:srgbClr val="059669"/>
                </a:solidFill>
                <a:latin typeface="Segoe UI"/>
              </a:defRPr>
            </a:pPr>
            <a:r>
              <a:t>🏛️ INSTITUTIONAL ROI &amp; NAAC VALUE</a:t>
            </a:r>
          </a:p>
          <a:p>
            <a:pPr>
              <a:spcBef>
                <a:spcPts val="400"/>
              </a:spcBef>
              <a:defRPr sz="1100" b="1">
                <a:solidFill>
                  <a:srgbClr val="0F172A"/>
                </a:solidFill>
                <a:latin typeface="Segoe UI"/>
              </a:defRPr>
            </a:pPr>
            <a:r>
              <a:t>Accreditation-Ready Governance</a:t>
            </a:r>
          </a:p>
          <a:p>
            <a:pPr>
              <a:spcBef>
                <a:spcPts val="1000"/>
              </a:spcBef>
              <a:defRPr sz="1100">
                <a:solidFill>
                  <a:srgbClr val="475569"/>
                </a:solidFill>
                <a:latin typeface="Segoe UI"/>
              </a:defRPr>
            </a:pPr>
            <a:r>
              <a:t>• NAAC Criteria 4 &amp; 5 Compliance: 1-click generation of grievance redressal and maintenance audit reports.</a:t>
            </a:r>
          </a:p>
          <a:p>
            <a:pPr>
              <a:spcBef>
                <a:spcPts val="1000"/>
              </a:spcBef>
              <a:defRPr sz="1100">
                <a:solidFill>
                  <a:srgbClr val="475569"/>
                </a:solidFill>
                <a:latin typeface="Segoe UI"/>
              </a:defRPr>
            </a:pPr>
            <a:r>
              <a:t>• Verifiable Certificates: Bonafide &amp; leave certificates have high-density QR codes for instant public verification.</a:t>
            </a:r>
          </a:p>
          <a:p>
            <a:pPr>
              <a:spcBef>
                <a:spcPts val="1000"/>
              </a:spcBef>
              <a:defRPr sz="1100">
                <a:solidFill>
                  <a:srgbClr val="475569"/>
                </a:solidFill>
                <a:latin typeface="Segoe UI"/>
              </a:defRPr>
            </a:pPr>
            <a:r>
              <a:t>• Zero License Cost: Open-source MIT stack with zero recurring per-student subscription fees.</a:t>
            </a:r>
          </a:p>
          <a:p>
            <a:pPr>
              <a:spcBef>
                <a:spcPts val="1000"/>
              </a:spcBef>
              <a:defRPr sz="1100">
                <a:solidFill>
                  <a:srgbClr val="475569"/>
                </a:solidFill>
                <a:latin typeface="Segoe UI"/>
              </a:defRPr>
            </a:pPr>
            <a:r>
              <a:t>• Single Configuration File: Entire college profile configured in institution.json.</a:t>
            </a:r>
          </a:p>
        </p:txBody>
      </p:sp>
      <p:sp>
        <p:nvSpPr>
          <p:cNvPr id="9" name="TextBox 8"/>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4114800" cy="320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46E5"/>
                </a:solidFill>
                <a:latin typeface="Segoe UI"/>
              </a:defRPr>
            </a:pPr>
            <a:r>
              <a:t>RAPID ADOPTION · RADICAL TRANSPARENCY · TECHNICAL Q&amp;A</a:t>
            </a:r>
          </a:p>
        </p:txBody>
      </p:sp>
      <p:sp>
        <p:nvSpPr>
          <p:cNvPr id="4" name="TextBox 3"/>
          <p:cNvSpPr txBox="1"/>
          <p:nvPr/>
        </p:nvSpPr>
        <p:spPr>
          <a:xfrm>
            <a:off x="731520" y="777240"/>
            <a:ext cx="16824960" cy="594360"/>
          </a:xfrm>
          <a:prstGeom prst="rect">
            <a:avLst/>
          </a:prstGeom>
          <a:noFill/>
        </p:spPr>
        <p:txBody>
          <a:bodyPr wrap="square">
            <a:spAutoFit/>
          </a:bodyPr>
          <a:lstStyle/>
          <a:p>
            <a:pPr>
              <a:defRPr sz="2600" b="1">
                <a:solidFill>
                  <a:srgbClr val="0F172A"/>
                </a:solidFill>
                <a:latin typeface="Segoe UI"/>
              </a:defRPr>
            </a:pPr>
            <a:r>
              <a:t>Rapid Adoption &amp; Verified Engineering</a:t>
            </a:r>
          </a:p>
        </p:txBody>
      </p:sp>
      <p:sp>
        <p:nvSpPr>
          <p:cNvPr id="5" name="TextBox 4"/>
          <p:cNvSpPr txBox="1"/>
          <p:nvPr/>
        </p:nvSpPr>
        <p:spPr>
          <a:xfrm>
            <a:off x="731520" y="1325880"/>
            <a:ext cx="16824960" cy="411480"/>
          </a:xfrm>
          <a:prstGeom prst="rect">
            <a:avLst/>
          </a:prstGeom>
          <a:noFill/>
        </p:spPr>
        <p:txBody>
          <a:bodyPr wrap="square">
            <a:spAutoFit/>
          </a:bodyPr>
          <a:lstStyle/>
          <a:p>
            <a:pPr>
              <a:defRPr sz="1400">
                <a:solidFill>
                  <a:srgbClr val="475569"/>
                </a:solidFill>
                <a:latin typeface="Segoe UI"/>
              </a:defRPr>
            </a:pPr>
            <a:r>
              <a:t>The 60-Minute Deployment Guarantee, Honest Done vs Next Split, and Technical Q&amp;A Defense</a:t>
            </a:r>
          </a:p>
        </p:txBody>
      </p:sp>
      <p:sp>
        <p:nvSpPr>
          <p:cNvPr id="6" name="Rounded Rectangle 5"/>
          <p:cNvSpPr/>
          <p:nvPr/>
        </p:nvSpPr>
        <p:spPr>
          <a:xfrm>
            <a:off x="731520" y="2011680"/>
            <a:ext cx="16824960" cy="164592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300" b="1">
                <a:solidFill>
                  <a:srgbClr val="4F46E5"/>
                </a:solidFill>
                <a:latin typeface="Segoe UI"/>
              </a:defRPr>
            </a:pPr>
            <a:r>
              <a:t>⚡ THE 60-MINUTE RAPID ADOPTION GUARANTEE</a:t>
            </a:r>
          </a:p>
          <a:p>
            <a:pPr>
              <a:spcBef>
                <a:spcPts val="400"/>
              </a:spcBef>
              <a:defRPr sz="1200">
                <a:solidFill>
                  <a:srgbClr val="0F172A"/>
                </a:solidFill>
                <a:latin typeface="Segoe UI"/>
              </a:defRPr>
            </a:pPr>
            <a:r>
              <a:t>Colleges cannot afford six months of painful IT migration. Campus Relay is 100% configuration-driven.</a:t>
            </a:r>
            <a:br/>
            <a:r>
              <a:t>Provide your institution's standard CSV rosters (students, faculty, rooms, departments), and our system is seeded, calibrated, and operational on your campus in under 60 minutes. Zero custom code required per institution.</a:t>
            </a:r>
          </a:p>
        </p:txBody>
      </p:sp>
      <p:sp>
        <p:nvSpPr>
          <p:cNvPr id="7" name="Rounded Rectangle 6"/>
          <p:cNvSpPr/>
          <p:nvPr/>
        </p:nvSpPr>
        <p:spPr>
          <a:xfrm>
            <a:off x="731520" y="3931920"/>
            <a:ext cx="80467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300" b="1">
                <a:solidFill>
                  <a:srgbClr val="059669"/>
                </a:solidFill>
                <a:latin typeface="Segoe UI"/>
              </a:defRPr>
            </a:pPr>
            <a:r>
              <a:t>✅ WHAT IS BUILT &amp; VERIFIED TODAY</a:t>
            </a:r>
          </a:p>
          <a:p>
            <a:pPr>
              <a:spcBef>
                <a:spcPts val="600"/>
              </a:spcBef>
              <a:defRPr sz="1100">
                <a:solidFill>
                  <a:srgbClr val="0F172A"/>
                </a:solidFill>
                <a:latin typeface="Segoe UI"/>
              </a:defRPr>
            </a:pPr>
            <a:r>
              <a:t>✔ 145 Backend Automated Tests passing across 16 test suites</a:t>
            </a:r>
          </a:p>
          <a:p>
            <a:pPr>
              <a:spcBef>
                <a:spcPts val="600"/>
              </a:spcBef>
              <a:defRPr sz="1100">
                <a:solidFill>
                  <a:srgbClr val="0F172A"/>
                </a:solidFill>
                <a:latin typeface="Segoe UI"/>
              </a:defRPr>
            </a:pPr>
            <a:r>
              <a:t>✔ Clean TypeScript compilation (0 errors via npx tsc --noEmit)</a:t>
            </a:r>
          </a:p>
          <a:p>
            <a:pPr>
              <a:spcBef>
                <a:spcPts val="600"/>
              </a:spcBef>
              <a:defRPr sz="1100">
                <a:solidFill>
                  <a:srgbClr val="0F172A"/>
                </a:solidFill>
                <a:latin typeface="Segoe UI"/>
              </a:defRPr>
            </a:pPr>
            <a:r>
              <a:t>✔ 62 Permissions Enforced via AST-verified RBAC audit</a:t>
            </a:r>
          </a:p>
          <a:p>
            <a:pPr>
              <a:spcBef>
                <a:spcPts val="600"/>
              </a:spcBef>
              <a:defRPr sz="1100">
                <a:solidFill>
                  <a:srgbClr val="0F172A"/>
                </a:solidFill>
                <a:latin typeface="Segoe UI"/>
              </a:defRPr>
            </a:pPr>
            <a:r>
              <a:t>✔ 100% Offline-Capable PWA with IndexedDB outbox &amp; replay</a:t>
            </a:r>
          </a:p>
          <a:p>
            <a:pPr>
              <a:spcBef>
                <a:spcPts val="600"/>
              </a:spcBef>
              <a:defRPr sz="1100">
                <a:solidFill>
                  <a:srgbClr val="0F172A"/>
                </a:solidFill>
                <a:latin typeface="Segoe UI"/>
              </a:defRPr>
            </a:pPr>
            <a:r>
              <a:t>✔ Trilingual Localization: English, Odia, Hindi (549 keys each)</a:t>
            </a:r>
          </a:p>
          <a:p>
            <a:pPr>
              <a:spcBef>
                <a:spcPts val="600"/>
              </a:spcBef>
              <a:defRPr sz="1100">
                <a:solidFill>
                  <a:srgbClr val="0F172A"/>
                </a:solidFill>
                <a:latin typeface="Segoe UI"/>
              </a:defRPr>
            </a:pPr>
            <a:r>
              <a:t>✔ MIT Open-Source codebase committed &amp; pushed to GitHub</a:t>
            </a:r>
          </a:p>
        </p:txBody>
      </p:sp>
      <p:sp>
        <p:nvSpPr>
          <p:cNvPr id="8" name="Rounded Rectangle 7"/>
          <p:cNvSpPr/>
          <p:nvPr/>
        </p:nvSpPr>
        <p:spPr>
          <a:xfrm>
            <a:off x="9509760" y="3931920"/>
            <a:ext cx="80467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300" b="1">
                <a:solidFill>
                  <a:srgbClr val="D97706"/>
                </a:solidFill>
                <a:latin typeface="Segoe UI"/>
              </a:defRPr>
            </a:pPr>
            <a:r>
              <a:t>⏳ WHAT IS NEXT ON OUR ROADMAP</a:t>
            </a:r>
          </a:p>
          <a:p>
            <a:pPr>
              <a:spcBef>
                <a:spcPts val="600"/>
              </a:spcBef>
              <a:defRPr sz="1100">
                <a:solidFill>
                  <a:srgbClr val="475569"/>
                </a:solidFill>
                <a:latin typeface="Segoe UI"/>
              </a:defRPr>
            </a:pPr>
            <a:r>
              <a:t>• Native Hardware Barcode Gun integration for high-speed gate lanes</a:t>
            </a:r>
          </a:p>
          <a:p>
            <a:pPr>
              <a:spcBef>
                <a:spcPts val="600"/>
              </a:spcBef>
              <a:defRPr sz="1100">
                <a:solidFill>
                  <a:srgbClr val="475569"/>
                </a:solidFill>
                <a:latin typeface="Segoe UI"/>
              </a:defRPr>
            </a:pPr>
            <a:r>
              <a:t>• Direct Automated SMS Gateway fallback for offline parent alerts</a:t>
            </a:r>
          </a:p>
          <a:p>
            <a:pPr>
              <a:spcBef>
                <a:spcPts val="600"/>
              </a:spcBef>
              <a:defRPr sz="1100">
                <a:solidFill>
                  <a:srgbClr val="475569"/>
                </a:solidFill>
                <a:latin typeface="Segoe UI"/>
              </a:defRPr>
            </a:pPr>
            <a:r>
              <a:t>• Multi-Campus Federated Analytics for state university groups</a:t>
            </a:r>
          </a:p>
          <a:p>
            <a:pPr>
              <a:spcBef>
                <a:spcPts val="600"/>
              </a:spcBef>
              <a:defRPr sz="1100">
                <a:solidFill>
                  <a:srgbClr val="475569"/>
                </a:solidFill>
                <a:latin typeface="Segoe UI"/>
              </a:defRPr>
            </a:pPr>
            <a:r>
              <a:t>• Expanded automated frontend component test coverage</a:t>
            </a:r>
          </a:p>
          <a:p>
            <a:pPr>
              <a:spcBef>
                <a:spcPts val="600"/>
              </a:spcBef>
              <a:defRPr sz="1100">
                <a:solidFill>
                  <a:srgbClr val="475569"/>
                </a:solidFill>
                <a:latin typeface="Segoe UI"/>
              </a:defRPr>
            </a:pPr>
            <a:r>
              <a:t>• Production cloud hosting migration to university server nodes</a:t>
            </a:r>
          </a:p>
          <a:p>
            <a:pPr>
              <a:spcBef>
                <a:spcPts val="600"/>
              </a:spcBef>
              <a:defRPr sz="1100">
                <a:solidFill>
                  <a:srgbClr val="475569"/>
                </a:solidFill>
                <a:latin typeface="Segoe UI"/>
              </a:defRPr>
            </a:pPr>
            <a:r>
              <a:t>• Automated timetable change broadcast integration</a:t>
            </a:r>
          </a:p>
        </p:txBody>
      </p:sp>
      <p:sp>
        <p:nvSpPr>
          <p:cNvPr id="9" name="Rounded Rectangle 8"/>
          <p:cNvSpPr/>
          <p:nvPr/>
        </p:nvSpPr>
        <p:spPr>
          <a:xfrm>
            <a:off x="731520" y="8321040"/>
            <a:ext cx="16824960" cy="1188720"/>
          </a:xfrm>
          <a:prstGeom prst="round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ctr">
              <a:defRPr sz="1200" b="1">
                <a:solidFill>
                  <a:srgbClr val="4F46E5"/>
                </a:solidFill>
                <a:latin typeface="Segoe UI"/>
              </a:defRPr>
            </a:pPr>
            <a:r>
              <a:t>🛡️ TECHNICAL DEFENSE LEADS STANDING BY FOR Q&amp;A</a:t>
            </a:r>
          </a:p>
          <a:p>
            <a:pPr>
              <a:spcBef>
                <a:spcPts val="300"/>
              </a:spcBef>
              <a:defRPr sz="1100">
                <a:solidFill>
                  <a:srgbClr val="0F172A"/>
                </a:solidFill>
                <a:latin typeface="Segoe UI"/>
              </a:defRPr>
            </a:pPr>
            <a:r>
              <a:t>• Pruthiraj Lenka (Lead Frontend &amp; Offline PWA) — Ready for questions on IndexedDB, service workers, and sync idempotency.</a:t>
            </a:r>
            <a:br/>
            <a:r>
              <a:t>• Bibhu Bhusan Giri (Lead Security &amp; Audit) — Ready for questions on anti-passback gate security, HMAC signatures, and database triggers.</a:t>
            </a:r>
          </a:p>
        </p:txBody>
      </p:sp>
      <p:sp>
        <p:nvSpPr>
          <p:cNvPr id="10" name="TextBox 9"/>
          <p:cNvSpPr txBox="1"/>
          <p:nvPr/>
        </p:nvSpPr>
        <p:spPr>
          <a:xfrm>
            <a:off x="731520" y="9692640"/>
            <a:ext cx="16824960" cy="365760"/>
          </a:xfrm>
          <a:prstGeom prst="rect">
            <a:avLst/>
          </a:prstGeom>
          <a:noFill/>
        </p:spPr>
        <p:txBody>
          <a:bodyPr wrap="none">
            <a:spAutoFit/>
          </a:bodyPr>
          <a:lstStyle/>
          <a:p>
            <a:pPr>
              <a:defRPr sz="1000">
                <a:solidFill>
                  <a:srgbClr val="94A3B8"/>
                </a:solidFill>
                <a:latin typeface="Segoe UI"/>
              </a:defRPr>
            </a:pPr>
            <a:r>
              <a:t>Campus Relay · Crystal Studio Labs · BPUT Hackathon 2026 (PS07 Fretbox)                                                                                                                   Slide 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